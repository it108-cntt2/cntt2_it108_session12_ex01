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9.xml" ContentType="application/vnd.openxmlformats-officedocument.drawingml.chart+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50839539641f9" /><Relationship Type="http://schemas.openxmlformats.org/officeDocument/2006/relationships/extended-properties" Target="/docProps/app.xml" Id="Ra886edd6434a48c7" /><Relationship Type="http://schemas.openxmlformats.org/officeDocument/2006/relationships/officeDocument" Target="/ppt/presentation.xml" Id="R85e4f7c3cc7e4d02" /></Relationships>
</file>

<file path=ppt/presentation.xml><?xml version="1.0" encoding="utf-8"?>
<p:presentation xmlns:p="http://schemas.openxmlformats.org/presentationml/2006/main">
  <p:sldMasterIdLst>
    <p:sldMasterId xmlns:r="http://schemas.openxmlformats.org/officeDocument/2006/relationships" id="2147483648" r:id="R8e418fa59ee347ae"/>
  </p:sldMasterIdLst>
  <p:notesMasterIdLst>
    <p:notesMasterId xmlns:r="http://schemas.openxmlformats.org/officeDocument/2006/relationships" r:id="R57d925e864864e8b"/>
  </p:notesMasterIdLst>
  <p:sldIdLst>
    <p:sldId xmlns:r="http://schemas.openxmlformats.org/officeDocument/2006/relationships" id="256" r:id="R0ab851a09a6b4e42"/>
    <p:sldId xmlns:r="http://schemas.openxmlformats.org/officeDocument/2006/relationships" id="257" r:id="R5751a4c738844ecb"/>
    <p:sldId xmlns:r="http://schemas.openxmlformats.org/officeDocument/2006/relationships" id="258" r:id="Rb533145f4fe74bea"/>
    <p:sldId xmlns:r="http://schemas.openxmlformats.org/officeDocument/2006/relationships" id="259" r:id="Ra6b7a96507134cf0"/>
    <p:sldId xmlns:r="http://schemas.openxmlformats.org/officeDocument/2006/relationships" id="260" r:id="Red1f4afa245a4f00"/>
    <p:sldId xmlns:r="http://schemas.openxmlformats.org/officeDocument/2006/relationships" id="261" r:id="R016fa53ac63848ae"/>
    <p:sldId xmlns:r="http://schemas.openxmlformats.org/officeDocument/2006/relationships" id="262" r:id="Rb8e94bca98254248"/>
    <p:sldId xmlns:r="http://schemas.openxmlformats.org/officeDocument/2006/relationships" id="263" r:id="Ra0a44a2545e7483d"/>
    <p:sldId xmlns:r="http://schemas.openxmlformats.org/officeDocument/2006/relationships" id="264" r:id="R37ab420ab04548bb"/>
    <p:sldId xmlns:r="http://schemas.openxmlformats.org/officeDocument/2006/relationships" id="265" r:id="R87b63adad2e74c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a9477ff42344b0" /><Relationship Type="http://schemas.openxmlformats.org/officeDocument/2006/relationships/slideMaster" Target="/ppt/slideMasters/slideMaster1.xml" Id="R8e418fa59ee347ae" /><Relationship Type="http://schemas.openxmlformats.org/officeDocument/2006/relationships/notesMaster" Target="/ppt/notesMasters/notesMaster1.xml" Id="R57d925e864864e8b" /><Relationship Type="http://schemas.openxmlformats.org/officeDocument/2006/relationships/presProps" Target="/ppt/presProps.xml" Id="R00c49ff002dd4739" /><Relationship Type="http://schemas.openxmlformats.org/officeDocument/2006/relationships/tableStyles" Target="/ppt/tableStyles.xml" Id="R692564e834294754" /><Relationship Type="http://schemas.openxmlformats.org/officeDocument/2006/relationships/slide" Target="/ppt/slides/slide1.xml" Id="R0ab851a09a6b4e42" /><Relationship Type="http://schemas.openxmlformats.org/officeDocument/2006/relationships/slide" Target="/ppt/slides/slide2.xml" Id="R5751a4c738844ecb" /><Relationship Type="http://schemas.openxmlformats.org/officeDocument/2006/relationships/slide" Target="/ppt/slides/slide3.xml" Id="Rb533145f4fe74bea" /><Relationship Type="http://schemas.openxmlformats.org/officeDocument/2006/relationships/slide" Target="/ppt/slides/slide4.xml" Id="Ra6b7a96507134cf0" /><Relationship Type="http://schemas.openxmlformats.org/officeDocument/2006/relationships/slide" Target="/ppt/slides/slide5.xml" Id="Red1f4afa245a4f00" /><Relationship Type="http://schemas.openxmlformats.org/officeDocument/2006/relationships/slide" Target="/ppt/slides/slide6.xml" Id="R016fa53ac63848ae" /><Relationship Type="http://schemas.openxmlformats.org/officeDocument/2006/relationships/slide" Target="/ppt/slides/slide7.xml" Id="Rb8e94bca98254248" /><Relationship Type="http://schemas.openxmlformats.org/officeDocument/2006/relationships/slide" Target="/ppt/slides/slide8.xml" Id="Ra0a44a2545e7483d" /><Relationship Type="http://schemas.openxmlformats.org/officeDocument/2006/relationships/slide" Target="/ppt/slides/slide9.xml" Id="R37ab420ab04548bb" /><Relationship Type="http://schemas.openxmlformats.org/officeDocument/2006/relationships/slide" Target="/ppt/slides/slide10.xml" Id="R87b63adad2e74c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b261cdc3f241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d39d77d7964607" /><Relationship Type="http://schemas.openxmlformats.org/officeDocument/2006/relationships/notesMaster" Target="/ppt/notesMasters/notesMaster1.xml" Id="Rc7e04d8cc19541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487de5a75746be" /><Relationship Type="http://schemas.openxmlformats.org/officeDocument/2006/relationships/notesMaster" Target="/ppt/notesMasters/notesMaster1.xml" Id="Re7a607d2407e40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c2ddf4faa24d7c" /><Relationship Type="http://schemas.openxmlformats.org/officeDocument/2006/relationships/notesMaster" Target="/ppt/notesMasters/notesMaster1.xml" Id="R5954c3dc79c74a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8e9166f7224789" /><Relationship Type="http://schemas.openxmlformats.org/officeDocument/2006/relationships/notesMaster" Target="/ppt/notesMasters/notesMaster1.xml" Id="Re888a29cf5be4f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6a7cbc64a84037" /><Relationship Type="http://schemas.openxmlformats.org/officeDocument/2006/relationships/notesMaster" Target="/ppt/notesMasters/notesMaster1.xml" Id="Rbfeccd6b7193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2f72bbe1924fbc" /><Relationship Type="http://schemas.openxmlformats.org/officeDocument/2006/relationships/notesMaster" Target="/ppt/notesMasters/notesMaster1.xml" Id="R42797c61a58e49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a0ef3178b0404c" /><Relationship Type="http://schemas.openxmlformats.org/officeDocument/2006/relationships/notesMaster" Target="/ppt/notesMasters/notesMaster1.xml" Id="Re5f4fc52881143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b871b33371476b" /><Relationship Type="http://schemas.openxmlformats.org/officeDocument/2006/relationships/notesMaster" Target="/ppt/notesMasters/notesMaster1.xml" Id="Rd7761ece95f449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815309671b4f78" /><Relationship Type="http://schemas.openxmlformats.org/officeDocument/2006/relationships/notesMaster" Target="/ppt/notesMasters/notesMaster1.xml" Id="Re26dd089bc2540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a481dffdbf4c50" /><Relationship Type="http://schemas.openxmlformats.org/officeDocument/2006/relationships/notesMaster" Target="/ppt/notesMasters/notesMaster1.xml" Id="R63c08dcfa38849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Mở đầu bằng kết quả. Lợi nhuận hoạt động chưa gồm VAT, thuế TNDN, lãi vay và khấu hao. Không dùng kết quả mẫu để suy ra quy mô kinh doanh thật.</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B7:C7 và C14. Tăng trưởng = 138000/120000 - 1. Không khẳng định ưu đãi là nguyên nhân vì dữ liệu mẫu chưa chứng minh quan hệ nhân quả.</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B6:C6. Mỗi tháng có 12 giao dịch. Giá trị bình quân tăng từ 500000 lên 575000 VND. Tiền gốc của khách không ghi thành doanh thu PayKX.</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F18:F20 và G18:G20. Ngân hàng A 2610, B 3484, C 3576 VND. Biểu phí và các ngân hàng đều giả định. Phí thực thu = tổng phí đối tác báo theo từng giao dịch + phí cố định hợp đồng mẫu.</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C8:C10. Tổng chi = 9670 + 20700 + 70000 = 100370 VND. Tỷ trọng vận hành = 70000/100370 = 69,7%. Hoàn tiền ở đây là chi phí ưu đãi, không phải hoàn trả giao dịch gốc trong SRS.</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C7:C11. Các cột hiển thị độ lớn khoản thu, chi và lãi bằng số dương. Phép trừ chi phí nằm ở phương trình dưới biểu đồ. Đây là biểu đồ thành phần, không phải waterfall. Lãi hoạt động chưa bao gồm thuế.</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B12:D12. 23200/120000 = 19,333%; 37630/138000 = 27,268%. Chênh lệch 7,9348 điểm phần trăm, làm tròn 7,9. Không gọi đây là tăng 7,9%.</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TongHop B26:B29. Quỹ đầu kỳ 100000, thu phí 138000, chi hoạt động 100370, cuối kỳ 137630 VND. Biểu đồ thể hiện số dư sau từng nhóm thu chi, không phải diễn biến theo ngày. Không bao gồm tiền khách hàng.</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 phút. DoiSoat dòng 14:25, cột K:L. Các mã đã được làm sạch, tên người dùng tra cứu từ TraCuu A2:B25 bằng VLOOKUP chính xác. Mẫu có 12 giao dịch khớp phí, không có mã trùng. Kết quả chỉ phản ánh mẫu được kiểm tra.</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 Lãi tăng 14430 VND, tương đương 62,198%. Chi phí vận hành và phí cố định giữ nguyên; doanh thu tăng 18000, phí biến đổi tăng 870, ưu đãi tăng 2700. Đề xuất kiểm tra hiệu quả ưu đãi là bước tiếp theo, chưa phải quyết định đã phê duyệt.</a:t>
            </a:r>
          </a:p>
          <a:p xmlns:a="http://schemas.openxmlformats.org/drawingml/2006/main">
            <a:r>
              <a:t>Nguồn: PayKX_DoiSoat.xlsx, dữ liệu giả định của bài tập, 24 giao dịch thành công của tháng 09 và 10/2026, mỗi tháng 12 giao dịch. Các biểu đồ PowerPoint là bản chụp số liệu tại thời điểm tạo, không liên kết tự động với file Excel. Tổng thời lượng trình bày của bộ 10 slide: 20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a7a727eaee41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49b582d47c4d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056b7bf41f4b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ade6f2195f42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5f915cb7b14b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b77fdc87724f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A8469C-7148-431B-9903-E8F5890C1A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AE512B-C297-4859-B8F6-E48990FA26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284204-5E3F-40F9-A90E-F82D32840E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E8A9D-3BF7-42F7-8229-AB6735F81E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E22CA3-36FD-474B-8823-DF856980A4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268D36-1948-4AF1-A1E7-C089DC0B16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289EF4-DF0F-4205-BE8A-CEDC1BF381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60ED62-2459-4A94-87E9-3D2042ACFA1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FBE364-BCFE-4321-B60B-773B4D6292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111229-8D65-4CC4-9AA8-70054BC907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a7d57a317345d1" /><Relationship Type="http://schemas.openxmlformats.org/officeDocument/2006/relationships/slideLayout" Target="/ppt/slideLayouts/slideLayout1.xml" Id="Raa255cc187844844" /><Relationship Type="http://schemas.openxmlformats.org/officeDocument/2006/relationships/slideLayout" Target="/ppt/slideLayouts/slideLayout2.xml" Id="Rfda4f967685f497e" /><Relationship Type="http://schemas.openxmlformats.org/officeDocument/2006/relationships/slideLayout" Target="/ppt/slideLayouts/slideLayout3.xml" Id="R4d62f1945d9340c4" /><Relationship Type="http://schemas.openxmlformats.org/officeDocument/2006/relationships/slideLayout" Target="/ppt/slideLayouts/slideLayout4.xml" Id="R0b1ec5ab4a9a46fc" /><Relationship Type="http://schemas.openxmlformats.org/officeDocument/2006/relationships/slideLayout" Target="/ppt/slideLayouts/slideLayout5.xml" Id="Ra5ba418b0ba4467e" /><Relationship Type="http://schemas.openxmlformats.org/officeDocument/2006/relationships/slideLayout" Target="/ppt/slideLayouts/slideLayout6.xml" Id="R2549b6c55d0546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255cc187844844"/>
    <p:sldLayoutId xmlns:r="http://schemas.openxmlformats.org/officeDocument/2006/relationships" id="2147483650" r:id="Rfda4f967685f497e"/>
    <p:sldLayoutId xmlns:r="http://schemas.openxmlformats.org/officeDocument/2006/relationships" id="2147483651" r:id="R4d62f1945d9340c4"/>
    <p:sldLayoutId xmlns:r="http://schemas.openxmlformats.org/officeDocument/2006/relationships" id="2147483652" r:id="R0b1ec5ab4a9a46fc"/>
    <p:sldLayoutId xmlns:r="http://schemas.openxmlformats.org/officeDocument/2006/relationships" id="2147483653" r:id="Ra5ba418b0ba4467e"/>
    <p:sldLayoutId xmlns:r="http://schemas.openxmlformats.org/officeDocument/2006/relationships" id="2147483654" r:id="R2549b6c55d0546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5d542bfd504dff" /><Relationship Type="http://schemas.openxmlformats.org/officeDocument/2006/relationships/notesSlide" Target="/ppt/notesSlides/notesSlide1.xml" Id="R2723b46d410e44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d0c0ebab8546b2" /><Relationship Type="http://schemas.openxmlformats.org/officeDocument/2006/relationships/chart" Target="/ppt/slides/charts/chart1.xml" Id="R10e86060b75149db" /><Relationship Type="http://schemas.openxmlformats.org/officeDocument/2006/relationships/notesSlide" Target="/ppt/notesSlides/notesSlide2.xml" Id="R454dacde9d5b49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049946b2174250" /><Relationship Type="http://schemas.openxmlformats.org/officeDocument/2006/relationships/chart" Target="/ppt/slides/charts/chart2.xml" Id="R3ac285dbf6ec4b79" /><Relationship Type="http://schemas.openxmlformats.org/officeDocument/2006/relationships/notesSlide" Target="/ppt/notesSlides/notesSlide3.xml" Id="R1cc08b7d90af4d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7f2caf66c24b20" /><Relationship Type="http://schemas.openxmlformats.org/officeDocument/2006/relationships/chart" Target="/ppt/slides/charts/chart3.xml" Id="Re581cb409138429a" /><Relationship Type="http://schemas.openxmlformats.org/officeDocument/2006/relationships/notesSlide" Target="/ppt/notesSlides/notesSlide4.xml" Id="R04b3b38890a744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dd022a8cd947ef" /><Relationship Type="http://schemas.openxmlformats.org/officeDocument/2006/relationships/chart" Target="/ppt/slides/charts/chart4.xml" Id="R8c85529b426b4c2d" /><Relationship Type="http://schemas.openxmlformats.org/officeDocument/2006/relationships/notesSlide" Target="/ppt/notesSlides/notesSlide5.xml" Id="Rd9200578128c40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e0c18451184fc9" /><Relationship Type="http://schemas.openxmlformats.org/officeDocument/2006/relationships/chart" Target="/ppt/slides/charts/chart5.xml" Id="Rffee24f76ed24693" /><Relationship Type="http://schemas.openxmlformats.org/officeDocument/2006/relationships/notesSlide" Target="/ppt/notesSlides/notesSlide6.xml" Id="Rdd5660e3879a40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cb53f539c44359" /><Relationship Type="http://schemas.openxmlformats.org/officeDocument/2006/relationships/chart" Target="/ppt/slides/charts/chart6.xml" Id="R6bd4f64b3db14ab6" /><Relationship Type="http://schemas.openxmlformats.org/officeDocument/2006/relationships/notesSlide" Target="/ppt/notesSlides/notesSlide7.xml" Id="R24cc58a4b6524d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df9db678ea4481" /><Relationship Type="http://schemas.openxmlformats.org/officeDocument/2006/relationships/chart" Target="/ppt/slides/charts/chart7.xml" Id="Rac15802087d545f6" /><Relationship Type="http://schemas.openxmlformats.org/officeDocument/2006/relationships/notesSlide" Target="/ppt/notesSlides/notesSlide8.xml" Id="R9121d968ea1243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bdffd9d8fc4e25" /><Relationship Type="http://schemas.openxmlformats.org/officeDocument/2006/relationships/chart" Target="/ppt/slides/charts/chart8.xml" Id="R0702de3ce0814133" /><Relationship Type="http://schemas.openxmlformats.org/officeDocument/2006/relationships/notesSlide" Target="/ppt/notesSlides/notesSlide9.xml" Id="R9275e722ee1c45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d1d05865e94718" /><Relationship Type="http://schemas.openxmlformats.org/officeDocument/2006/relationships/chart" Target="/ppt/slides/charts/chart9.xml" Id="Rf499a30f1ba14494" /><Relationship Type="http://schemas.openxmlformats.org/officeDocument/2006/relationships/notesSlide" Target="/ppt/notesSlides/notesSlide10.xml" Id="R7dea5ff751c9411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nghìn đồng</c:v>
          </c:tx>
          <c:spPr>
            <a:solidFill xmlns:a="http://schemas.openxmlformats.org/drawingml/2006/main">
              <a:srgbClr val="2563EB"/>
            </a:solidFill>
            <a:ln xmlns:a="http://schemas.openxmlformats.org/drawingml/2006/main" w="38100">
              <a:solidFill>
                <a:srgbClr val="2563EB"/>
              </a:solidFill>
              <a:prstDash val="solid"/>
            </a:ln>
          </c:spPr>
          <c:invertIfNegative val="0"/>
          <c:cat>
            <c:strLit>
              <c:ptCount val="2"/>
              <c:pt idx="0">
                <c:v>Tháng 09</c:v>
              </c:pt>
              <c:pt idx="1">
                <c:v>Tháng 10</c:v>
              </c:pt>
            </c:strLit>
          </c:cat>
          <c:val>
            <c:numLit>
              <c:formatCode>0</c:formatCode>
              <c:ptCount val="2"/>
              <c:pt idx="0">
                <c:v>120</c:v>
              </c:pt>
              <c:pt idx="1">
                <c:v>138</c:v>
              </c:pt>
            </c:numLit>
          </c:val>
        </c:ser>
        <c:dLbls>
          <c:numFmt formatCode="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triệu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triệu đồng</c:v>
          </c:tx>
          <c:spPr>
            <a:solidFill xmlns:a="http://schemas.openxmlformats.org/drawingml/2006/main">
              <a:srgbClr val="7545C5"/>
            </a:solidFill>
            <a:ln xmlns:a="http://schemas.openxmlformats.org/drawingml/2006/main" w="38100">
              <a:solidFill>
                <a:srgbClr val="7545C5"/>
              </a:solidFill>
              <a:prstDash val="solid"/>
            </a:ln>
          </c:spPr>
          <c:invertIfNegative val="0"/>
          <c:cat>
            <c:strLit>
              <c:ptCount val="2"/>
              <c:pt idx="0">
                <c:v>Tháng 09</c:v>
              </c:pt>
              <c:pt idx="1">
                <c:v>Tháng 10</c:v>
              </c:pt>
            </c:strLit>
          </c:cat>
          <c:val>
            <c:numLit>
              <c:formatCode>0.0</c:formatCode>
              <c:ptCount val="2"/>
              <c:pt idx="0">
                <c:v>6</c:v>
              </c:pt>
              <c:pt idx="1">
                <c:v>6.9</c:v>
              </c:pt>
            </c:numLit>
          </c:val>
        </c:ser>
        <c:dLbls>
          <c:numFmt formatCode="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nghìn đồng</c:v>
          </c:tx>
          <c:spPr>
            <a:solidFill xmlns:a="http://schemas.openxmlformats.org/drawingml/2006/main">
              <a:srgbClr val="2563EB"/>
            </a:solidFill>
            <a:ln xmlns:a="http://schemas.openxmlformats.org/drawingml/2006/main" w="38100">
              <a:solidFill>
                <a:srgbClr val="2563EB"/>
              </a:solidFill>
              <a:prstDash val="solid"/>
            </a:ln>
          </c:spPr>
          <c:invertIfNegative val="0"/>
          <c:cat>
            <c:strLit>
              <c:ptCount val="3"/>
              <c:pt idx="0">
                <c:v>NH A</c:v>
              </c:pt>
              <c:pt idx="1">
                <c:v>NH B</c:v>
              </c:pt>
              <c:pt idx="2">
                <c:v>NH C</c:v>
              </c:pt>
            </c:strLit>
          </c:cat>
          <c:val>
            <c:numLit>
              <c:formatCode>0.000</c:formatCode>
              <c:ptCount val="3"/>
              <c:pt idx="0">
                <c:v>2.61</c:v>
              </c:pt>
              <c:pt idx="1">
                <c:v>3.484</c:v>
              </c:pt>
              <c:pt idx="2">
                <c:v>3.576</c:v>
              </c:pt>
            </c:numLit>
          </c:val>
        </c:ser>
        <c:dLbls>
          <c:numFmt formatCode="0.0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nghìn đồng</c:v>
          </c:tx>
          <c:spPr>
            <a:solidFill xmlns:a="http://schemas.openxmlformats.org/drawingml/2006/main">
              <a:srgbClr val="7545C5"/>
            </a:solidFill>
            <a:ln xmlns:a="http://schemas.openxmlformats.org/drawingml/2006/main" w="38100">
              <a:solidFill>
                <a:srgbClr val="7545C5"/>
              </a:solidFill>
              <a:prstDash val="solid"/>
            </a:ln>
          </c:spPr>
          <c:invertIfNegative val="0"/>
          <c:cat>
            <c:strLit>
              <c:ptCount val="3"/>
              <c:pt idx="0">
                <c:v>Vận hành</c:v>
              </c:pt>
              <c:pt idx="1">
                <c:v>Ưu đãi</c:v>
              </c:pt>
              <c:pt idx="2">
                <c:v>Ngân hàng</c:v>
              </c:pt>
            </c:strLit>
          </c:cat>
          <c:val>
            <c:numLit>
              <c:formatCode>0.00</c:formatCode>
              <c:ptCount val="3"/>
              <c:pt idx="0">
                <c:v>70</c:v>
              </c:pt>
              <c:pt idx="1">
                <c:v>20.7</c:v>
              </c:pt>
              <c:pt idx="2">
                <c:v>9.67</c:v>
              </c:pt>
            </c:numLit>
          </c:val>
        </c:ser>
        <c:dLbls>
          <c:numFmt formatCode="0.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nghìn đồng</c:v>
          </c:tx>
          <c:spPr>
            <a:solidFill xmlns:a="http://schemas.openxmlformats.org/drawingml/2006/main">
              <a:srgbClr val="2563EB"/>
            </a:solidFill>
            <a:ln xmlns:a="http://schemas.openxmlformats.org/drawingml/2006/main" w="38100">
              <a:solidFill>
                <a:srgbClr val="2563EB"/>
              </a:solidFill>
              <a:prstDash val="solid"/>
            </a:ln>
          </c:spPr>
          <c:invertIfNegative val="0"/>
          <c:dPt>
            <c:idx val="1"/>
            <c:invertIfNegative val="0"/>
            <c:spPr>
              <a:solidFill xmlns:a="http://schemas.openxmlformats.org/drawingml/2006/main">
                <a:srgbClr val="C94747"/>
              </a:solidFill>
            </c:spPr>
          </c:dPt>
          <c:dPt>
            <c:idx val="2"/>
            <c:invertIfNegative val="0"/>
            <c:spPr>
              <a:solidFill xmlns:a="http://schemas.openxmlformats.org/drawingml/2006/main">
                <a:srgbClr val="C94747"/>
              </a:solidFill>
            </c:spPr>
          </c:dPt>
          <c:dPt>
            <c:idx val="3"/>
            <c:invertIfNegative val="0"/>
            <c:spPr>
              <a:solidFill xmlns:a="http://schemas.openxmlformats.org/drawingml/2006/main">
                <a:srgbClr val="C94747"/>
              </a:solidFill>
            </c:spPr>
          </c:dPt>
          <c:dPt>
            <c:idx val="4"/>
            <c:invertIfNegative val="0"/>
            <c:spPr>
              <a:solidFill xmlns:a="http://schemas.openxmlformats.org/drawingml/2006/main">
                <a:srgbClr val="16836A"/>
              </a:solidFill>
            </c:spPr>
          </c:dPt>
          <c:cat>
            <c:strLit>
              <c:ptCount val="5"/>
              <c:pt idx="0">
                <c:v>Thu phí</c:v>
              </c:pt>
              <c:pt idx="1">
                <c:v>Phí NH</c:v>
              </c:pt>
              <c:pt idx="2">
                <c:v>Ưu đãi</c:v>
              </c:pt>
              <c:pt idx="3">
                <c:v>Vận hành</c:v>
              </c:pt>
              <c:pt idx="4">
                <c:v>Lãi HĐ</c:v>
              </c:pt>
            </c:strLit>
          </c:cat>
          <c:val>
            <c:numLit>
              <c:formatCode>0.00</c:formatCode>
              <c:ptCount val="5"/>
              <c:pt idx="0">
                <c:v>138</c:v>
              </c:pt>
              <c:pt idx="1">
                <c:v>9.67</c:v>
              </c:pt>
              <c:pt idx="2">
                <c:v>20.7</c:v>
              </c:pt>
              <c:pt idx="3">
                <c:v>70</c:v>
              </c:pt>
              <c:pt idx="4">
                <c:v>37.63</c:v>
              </c:pt>
            </c:numLit>
          </c:val>
        </c:ser>
        <c:dLbls>
          <c:numFmt formatCode="0.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lợi nhuận hoạt động / doanh thu phí</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lợi nhuận hoạt động / doanh thu phí</c:v>
          </c:tx>
          <c:spPr>
            <a:solidFill xmlns:a="http://schemas.openxmlformats.org/drawingml/2006/main">
              <a:srgbClr val="16836A"/>
            </a:solidFill>
            <a:ln xmlns:a="http://schemas.openxmlformats.org/drawingml/2006/main" w="38100">
              <a:solidFill>
                <a:srgbClr val="16836A"/>
              </a:solidFill>
              <a:prstDash val="solid"/>
            </a:ln>
          </c:spPr>
          <c:invertIfNegative val="0"/>
          <c:cat>
            <c:strLit>
              <c:ptCount val="2"/>
              <c:pt idx="0">
                <c:v>Tháng 09</c:v>
              </c:pt>
              <c:pt idx="1">
                <c:v>Tháng 10</c:v>
              </c:pt>
            </c:strLit>
          </c:cat>
          <c:val>
            <c:numLit>
              <c:formatCode>0.0%</c:formatCode>
              <c:ptCount val="2"/>
              <c:pt idx="0">
                <c:v>0.19333333333333333</c:v>
              </c:pt>
              <c:pt idx="1">
                <c:v>0.27268115942028986</c:v>
              </c:pt>
            </c:numLit>
          </c:val>
        </c:ser>
        <c:dLbls>
          <c:numFmt formatCode="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lineChart>
        <c:grouping val="standard"/>
        <c:varyColors val="0"/>
        <c:ser>
          <c:idx val="0"/>
          <c:order val="0"/>
          <c:tx>
            <c:v>nghìn đồng</c:v>
          </c:tx>
          <c:spPr>
            <a:solidFill xmlns:a="http://schemas.openxmlformats.org/drawingml/2006/main">
              <a:srgbClr val="16836A"/>
            </a:solidFill>
            <a:ln xmlns:a="http://schemas.openxmlformats.org/drawingml/2006/main" w="38100">
              <a:solidFill>
                <a:srgbClr val="16836A"/>
              </a:solidFill>
              <a:prstDash val="solid"/>
            </a:ln>
          </c:spPr>
          <c:marker>
            <c:symbol val="none"/>
          </c:marker>
          <c:cat>
            <c:strLit>
              <c:ptCount val="3"/>
              <c:pt idx="0">
                <c:v>Đầu kỳ</c:v>
              </c:pt>
              <c:pt idx="1">
                <c:v>Sau thu phí</c:v>
              </c:pt>
              <c:pt idx="2">
                <c:v>Sau chi phí</c:v>
              </c:pt>
            </c:strLit>
          </c:cat>
          <c:val>
            <c:numLit>
              <c:formatCode>0.00</c:formatCode>
              <c:ptCount val="3"/>
              <c:pt idx="0">
                <c:v>100</c:v>
              </c:pt>
              <c:pt idx="1">
                <c:v>238</c:v>
              </c:pt>
              <c:pt idx="2">
                <c:v>137.63</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số giao dịch tháng 10</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số giao dịch tháng 10</c:v>
          </c:tx>
          <c:spPr>
            <a:solidFill xmlns:a="http://schemas.openxmlformats.org/drawingml/2006/main">
              <a:srgbClr val="16836A"/>
            </a:solidFill>
            <a:ln xmlns:a="http://schemas.openxmlformats.org/drawingml/2006/main" w="38100">
              <a:solidFill>
                <a:srgbClr val="16836A"/>
              </a:solidFill>
              <a:prstDash val="solid"/>
            </a:ln>
          </c:spPr>
          <c:invertIfNegative val="0"/>
          <c:cat>
            <c:strLit>
              <c:ptCount val="2"/>
              <c:pt idx="0">
                <c:v>Khớp phí</c:v>
              </c:pt>
              <c:pt idx="1">
                <c:v>Lệch phí</c:v>
              </c:pt>
            </c:strLit>
          </c:cat>
          <c:val>
            <c:numLit>
              <c:formatCode>0</c:formatCode>
              <c:ptCount val="2"/>
              <c:pt idx="0">
                <c:v>12</c:v>
              </c:pt>
              <c:pt idx="1">
                <c:v>0</c:v>
              </c:pt>
            </c:numLit>
          </c:val>
        </c:ser>
        <c:dLbls>
          <c:numFmt formatCode="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3000">
                <a:latin typeface="Arial"/>
                <a:ea typeface="Arial"/>
                <a:cs typeface="Arial"/>
              </a:rPr>
              <a:t>nghìn đồng</a:t>
            </a:r>
          </a:p>
        </c:rich>
      </c:tx>
      <c:overlay val="0"/>
      <c:txPr>
        <a:bodyPr xmlns:a="http://schemas.openxmlformats.org/drawingml/2006/main" anchorCtr="1"/>
        <a:lstStyle xmlns:a="http://schemas.openxmlformats.org/drawingml/2006/main"/>
        <a:p xmlns:a="http://schemas.openxmlformats.org/drawingml/2006/main">
          <a:pPr>
            <a:defRPr sz="3000">
              <a:latin typeface="Arial"/>
              <a:ea typeface="Arial"/>
              <a:cs typeface="Arial"/>
            </a:defRPr>
          </a:pPr>
        </a:p>
      </c:txPr>
    </c:title>
    <c:plotArea>
      <c:barChart>
        <c:barDir val="col"/>
        <c:grouping val="clustered"/>
        <c:varyColors val="0"/>
        <c:ser>
          <c:idx val="0"/>
          <c:order val="0"/>
          <c:tx>
            <c:v>nghìn đồng</c:v>
          </c:tx>
          <c:spPr>
            <a:solidFill xmlns:a="http://schemas.openxmlformats.org/drawingml/2006/main">
              <a:srgbClr val="16836A"/>
            </a:solidFill>
            <a:ln xmlns:a="http://schemas.openxmlformats.org/drawingml/2006/main" w="38100">
              <a:solidFill>
                <a:srgbClr val="16836A"/>
              </a:solidFill>
              <a:prstDash val="solid"/>
            </a:ln>
          </c:spPr>
          <c:invertIfNegative val="0"/>
          <c:cat>
            <c:strLit>
              <c:ptCount val="2"/>
              <c:pt idx="0">
                <c:v>Tháng 09</c:v>
              </c:pt>
              <c:pt idx="1">
                <c:v>Tháng 10</c:v>
              </c:pt>
            </c:strLit>
          </c:cat>
          <c:val>
            <c:numLit>
              <c:formatCode>0.00</c:formatCode>
              <c:ptCount val="2"/>
              <c:pt idx="0">
                <c:v>23.2</c:v>
              </c:pt>
              <c:pt idx="1">
                <c:v>37.63</c:v>
              </c:pt>
            </c:numLit>
          </c:val>
        </c:ser>
        <c:dLbls>
          <c:numFmt formatCode="0.00" sourceLinked="0"/>
          <c:txPr>
            <a:bodyPr xmlns:a="http://schemas.openxmlformats.org/drawingml/2006/main" anchorCtr="1"/>
            <a:lstStyle xmlns:a="http://schemas.openxmlformats.org/drawingml/2006/main"/>
            <a:p xmlns:a="http://schemas.openxmlformats.org/drawingml/2006/main">
              <a:pPr>
                <a:defRPr sz="3000" b="1">
                  <a:solidFill>
                    <a:srgbClr val="12356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3000">
                <a:solidFill>
                  <a:srgbClr val="475569"/>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2356A"/>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725AB4C-CE8C-4FEA-8B75-B0EDE45F92E7}"/>
              </a:ext>
            </a:extLst>
          </p:cNvPr>
          <p:cNvSpPr>
            <a:spLocks xmlns:a="http://schemas.openxmlformats.org/drawingml/2006/main" noGrp="1"/>
          </p:cNvSpPr>
          <p:nvPr/>
        </p:nvSpPr>
        <p:spPr>
          <a:xfrm xmlns:a="http://schemas.openxmlformats.org/drawingml/2006/main">
            <a:off x="609600" y="1047750"/>
            <a:ext cx="109728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PayKX đạt lãi hoạt động</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37.630 đồng trong tháng 10</a:t>
            </a:r>
          </a:p>
        </p:txBody>
      </p:sp>
      <p:sp>
        <p:nvSpPr>
          <p:cNvPr id="2" name="text-1">
            <a:extLst xmlns:a="http://schemas.openxmlformats.org/drawingml/2006/main">
              <a:ext uri="{FF2B5EF4-FFF2-40B4-BE49-F238E27FC236}">
                <a16:creationId xmlns:a16="http://schemas.microsoft.com/office/drawing/2014/main" id="{F4955C42-12C6-4D72-BD82-12E99E1EDE49}"/>
              </a:ext>
            </a:extLst>
          </p:cNvPr>
          <p:cNvSpPr>
            <a:spLocks xmlns:a="http://schemas.openxmlformats.org/drawingml/2006/main" noGrp="1"/>
          </p:cNvSpPr>
          <p:nvPr/>
        </p:nvSpPr>
        <p:spPr>
          <a:xfrm xmlns:a="http://schemas.openxmlformats.org/drawingml/2006/main">
            <a:off x="609600" y="30480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Báo cáo đối soát và kết quả hoạt động</a:t>
            </a:r>
          </a:p>
        </p:txBody>
      </p:sp>
      <p:sp>
        <p:nvSpPr>
          <p:cNvPr id="3" name="text-2">
            <a:extLst xmlns:a="http://schemas.openxmlformats.org/drawingml/2006/main">
              <a:ext uri="{FF2B5EF4-FFF2-40B4-BE49-F238E27FC236}">
                <a16:creationId xmlns:a16="http://schemas.microsoft.com/office/drawing/2014/main" id="{5DC1F6D1-57B4-49E2-9FE6-3CCC3AB9C8F6}"/>
              </a:ext>
            </a:extLst>
          </p:cNvPr>
          <p:cNvSpPr>
            <a:spLocks xmlns:a="http://schemas.openxmlformats.org/drawingml/2006/main" noGrp="1"/>
          </p:cNvSpPr>
          <p:nvPr/>
        </p:nvSpPr>
        <p:spPr>
          <a:xfrm xmlns:a="http://schemas.openxmlformats.org/drawingml/2006/main">
            <a:off x="609600" y="4238625"/>
            <a:ext cx="109728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FFFFFF"/>
                </a:solidFill>
                <a:latin typeface="Arial"/>
                <a:ea typeface="Arial"/>
                <a:cs typeface="Arial"/>
              </a:defRPr>
            </a:defPPr>
            <a:lvl1pPr>
              <a:defRPr sz="3000" b="0">
                <a:solidFill>
                  <a:srgbClr val="FFFFFF"/>
                </a:solidFill>
                <a:latin typeface="Arial"/>
                <a:ea typeface="Arial"/>
                <a:cs typeface="Arial"/>
              </a:defRPr>
            </a:lvl1pPr>
            <a:lvl2pPr>
              <a:defRPr sz="3000" b="0">
                <a:solidFill>
                  <a:srgbClr val="FFFFFF"/>
                </a:solidFill>
                <a:latin typeface="Arial"/>
                <a:ea typeface="Arial"/>
                <a:cs typeface="Arial"/>
              </a:defRPr>
            </a:lvl2pPr>
            <a:lvl3pPr>
              <a:defRPr sz="3000" b="0">
                <a:solidFill>
                  <a:srgbClr val="FFFFFF"/>
                </a:solidFill>
                <a:latin typeface="Arial"/>
                <a:ea typeface="Arial"/>
                <a:cs typeface="Arial"/>
              </a:defRPr>
            </a:lvl3pPr>
            <a:lvl4pPr>
              <a:defRPr sz="3000" b="0">
                <a:solidFill>
                  <a:srgbClr val="FFFFFF"/>
                </a:solidFill>
                <a:latin typeface="Arial"/>
                <a:ea typeface="Arial"/>
                <a:cs typeface="Arial"/>
              </a:defRPr>
            </a:lvl4pPr>
            <a:lvl5pPr>
              <a:defRPr sz="3000" b="0">
                <a:solidFill>
                  <a:srgbClr val="FFFFFF"/>
                </a:solidFill>
                <a:latin typeface="Arial"/>
                <a:ea typeface="Arial"/>
                <a:cs typeface="Arial"/>
              </a:defRPr>
            </a:lvl5pPr>
            <a:lvl6pPr>
              <a:defRPr sz="3000" b="0">
                <a:solidFill>
                  <a:srgbClr val="FFFFFF"/>
                </a:solidFill>
                <a:latin typeface="Arial"/>
                <a:ea typeface="Arial"/>
                <a:cs typeface="Arial"/>
              </a:defRPr>
            </a:lvl6pPr>
            <a:lvl7pPr>
              <a:defRPr sz="3000" b="0">
                <a:solidFill>
                  <a:srgbClr val="FFFFFF"/>
                </a:solidFill>
                <a:latin typeface="Arial"/>
                <a:ea typeface="Arial"/>
                <a:cs typeface="Arial"/>
              </a:defRPr>
            </a:lvl7pPr>
            <a:lvl8pPr>
              <a:defRPr sz="3000" b="0">
                <a:solidFill>
                  <a:srgbClr val="FFFFFF"/>
                </a:solidFill>
                <a:latin typeface="Arial"/>
                <a:ea typeface="Arial"/>
                <a:cs typeface="Arial"/>
              </a:defRPr>
            </a:lvl8pPr>
            <a:lvl9pPr>
              <a:defRPr sz="3000" b="0">
                <a:solidFill>
                  <a:srgbClr val="FFFFFF"/>
                </a:solidFill>
                <a:latin typeface="Arial"/>
                <a:ea typeface="Arial"/>
                <a:cs typeface="Arial"/>
              </a:defRPr>
            </a:lvl9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Doanh thu 138.000 đồng, tăng 15% so với tháng 09</a:t>
            </a:r>
          </a:p>
        </p:txBody>
      </p:sp>
      <p:sp>
        <p:nvSpPr>
          <p:cNvPr id="4" name="text-3">
            <a:extLst xmlns:a="http://schemas.openxmlformats.org/drawingml/2006/main">
              <a:ext uri="{FF2B5EF4-FFF2-40B4-BE49-F238E27FC236}">
                <a16:creationId xmlns:a16="http://schemas.microsoft.com/office/drawing/2014/main" id="{97B70A76-C13B-436B-842F-674F5E03C8E5}"/>
              </a:ext>
            </a:extLst>
          </p:cNvPr>
          <p:cNvSpPr>
            <a:spLocks xmlns:a="http://schemas.openxmlformats.org/drawingml/2006/main" noGrp="1"/>
          </p:cNvSpPr>
          <p:nvPr/>
        </p:nvSpPr>
        <p:spPr>
          <a:xfrm xmlns:a="http://schemas.openxmlformats.org/drawingml/2006/main">
            <a:off x="609600" y="61912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FFFFFF"/>
                </a:solidFill>
                <a:latin typeface="Arial"/>
                <a:ea typeface="Arial"/>
                <a:cs typeface="Arial"/>
              </a:defRPr>
            </a:defPPr>
            <a:lvl1pPr>
              <a:defRPr sz="3000" b="0">
                <a:solidFill>
                  <a:srgbClr val="FFFFFF"/>
                </a:solidFill>
                <a:latin typeface="Arial"/>
                <a:ea typeface="Arial"/>
                <a:cs typeface="Arial"/>
              </a:defRPr>
            </a:lvl1pPr>
            <a:lvl2pPr>
              <a:defRPr sz="3000" b="0">
                <a:solidFill>
                  <a:srgbClr val="FFFFFF"/>
                </a:solidFill>
                <a:latin typeface="Arial"/>
                <a:ea typeface="Arial"/>
                <a:cs typeface="Arial"/>
              </a:defRPr>
            </a:lvl2pPr>
            <a:lvl3pPr>
              <a:defRPr sz="3000" b="0">
                <a:solidFill>
                  <a:srgbClr val="FFFFFF"/>
                </a:solidFill>
                <a:latin typeface="Arial"/>
                <a:ea typeface="Arial"/>
                <a:cs typeface="Arial"/>
              </a:defRPr>
            </a:lvl3pPr>
            <a:lvl4pPr>
              <a:defRPr sz="3000" b="0">
                <a:solidFill>
                  <a:srgbClr val="FFFFFF"/>
                </a:solidFill>
                <a:latin typeface="Arial"/>
                <a:ea typeface="Arial"/>
                <a:cs typeface="Arial"/>
              </a:defRPr>
            </a:lvl4pPr>
            <a:lvl5pPr>
              <a:defRPr sz="3000" b="0">
                <a:solidFill>
                  <a:srgbClr val="FFFFFF"/>
                </a:solidFill>
                <a:latin typeface="Arial"/>
                <a:ea typeface="Arial"/>
                <a:cs typeface="Arial"/>
              </a:defRPr>
            </a:lvl5pPr>
            <a:lvl6pPr>
              <a:defRPr sz="3000" b="0">
                <a:solidFill>
                  <a:srgbClr val="FFFFFF"/>
                </a:solidFill>
                <a:latin typeface="Arial"/>
                <a:ea typeface="Arial"/>
                <a:cs typeface="Arial"/>
              </a:defRPr>
            </a:lvl6pPr>
            <a:lvl7pPr>
              <a:defRPr sz="3000" b="0">
                <a:solidFill>
                  <a:srgbClr val="FFFFFF"/>
                </a:solidFill>
                <a:latin typeface="Arial"/>
                <a:ea typeface="Arial"/>
                <a:cs typeface="Arial"/>
              </a:defRPr>
            </a:lvl7pPr>
            <a:lvl8pPr>
              <a:defRPr sz="3000" b="0">
                <a:solidFill>
                  <a:srgbClr val="FFFFFF"/>
                </a:solidFill>
                <a:latin typeface="Arial"/>
                <a:ea typeface="Arial"/>
                <a:cs typeface="Arial"/>
              </a:defRPr>
            </a:lvl8pPr>
            <a:lvl9pPr>
              <a:defRPr sz="3000" b="0">
                <a:solidFill>
                  <a:srgbClr val="FFFFFF"/>
                </a:solidFill>
                <a:latin typeface="Arial"/>
                <a:ea typeface="Arial"/>
                <a:cs typeface="Arial"/>
              </a:defRPr>
            </a:lvl9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Dữ liệu giả định 2026   /   10 slide   /   20 phút</a:t>
            </a:r>
          </a:p>
        </p:txBody>
      </p:sp>
    </p:spTree>
    <p:extLst>
      <p:ext uri="{BB962C8B-B14F-4D97-AF65-F5344CB8AC3E}">
        <p14:creationId xmlns:p14="http://schemas.microsoft.com/office/powerpoint/2010/main" val="16689579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6A65745-2D35-434D-80A0-11E22AF3BA87}"/>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Doanh thu phí tăng 15% lên 138.000 đồng</a:t>
            </a:r>
          </a:p>
        </p:txBody>
      </p:sp>
      <p:sp>
        <p:nvSpPr>
          <p:cNvPr id="2" name="text-1">
            <a:extLst xmlns:a="http://schemas.openxmlformats.org/drawingml/2006/main">
              <a:ext uri="{FF2B5EF4-FFF2-40B4-BE49-F238E27FC236}">
                <a16:creationId xmlns:a16="http://schemas.microsoft.com/office/drawing/2014/main" id="{02786904-0645-497C-BB2F-E3B3DC447F78}"/>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2 trên 10</a:t>
            </a:r>
          </a:p>
        </p:txBody>
      </p:sp>
      <p:graphicFrame>
        <p:nvGraphicFramePr>
          <p:cNvPr id="3" name="Chart">
            <a:extLst xmlns:a="http://schemas.openxmlformats.org/drawingml/2006/main">
              <a:ext uri="{FF2B5EF4-FFF2-40B4-BE49-F238E27FC236}">
                <a16:creationId xmlns:a16="http://schemas.microsoft.com/office/drawing/2014/main" id="{E1B8AF30-6942-4CD4-B953-9BAB87EA0176}"/>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10e86060b75149db"/>
          </a:graphicData>
        </a:graphic>
      </p:graphicFrame>
      <p:sp>
        <p:nvSpPr>
          <p:cNvPr id="4" name="text-2">
            <a:extLst xmlns:a="http://schemas.openxmlformats.org/drawingml/2006/main">
              <a:ext uri="{FF2B5EF4-FFF2-40B4-BE49-F238E27FC236}">
                <a16:creationId xmlns:a16="http://schemas.microsoft.com/office/drawing/2014/main" id="{CB1F10D1-A052-4A10-B07D-72E5EDB8C8C9}"/>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Tăng 18.000 đồng với mức phí dịch vụ giữ ở 2%</a:t>
            </a:r>
          </a:p>
        </p:txBody>
      </p:sp>
    </p:spTree>
    <p:extLst>
      <p:ext uri="{BB962C8B-B14F-4D97-AF65-F5344CB8AC3E}">
        <p14:creationId xmlns:p14="http://schemas.microsoft.com/office/powerpoint/2010/main" val="489961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0925E67D-3DF4-43C1-A030-78A89AF059A2}"/>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Giá trị giao dịch tăng từ 6 lên 6,9 triệu đồng</a:t>
            </a:r>
          </a:p>
        </p:txBody>
      </p:sp>
      <p:sp>
        <p:nvSpPr>
          <p:cNvPr id="2" name="text-1">
            <a:extLst xmlns:a="http://schemas.openxmlformats.org/drawingml/2006/main">
              <a:ext uri="{FF2B5EF4-FFF2-40B4-BE49-F238E27FC236}">
                <a16:creationId xmlns:a16="http://schemas.microsoft.com/office/drawing/2014/main" id="{A7AFBB6A-870B-4CC4-86F8-7C725EC38192}"/>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3 trên 10</a:t>
            </a:r>
          </a:p>
        </p:txBody>
      </p:sp>
      <p:graphicFrame>
        <p:nvGraphicFramePr>
          <p:cNvPr id="3" name="Chart">
            <a:extLst xmlns:a="http://schemas.openxmlformats.org/drawingml/2006/main">
              <a:ext uri="{FF2B5EF4-FFF2-40B4-BE49-F238E27FC236}">
                <a16:creationId xmlns:a16="http://schemas.microsoft.com/office/drawing/2014/main" id="{CB84E444-93B0-4433-9A62-338E4F6514BD}"/>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3ac285dbf6ec4b79"/>
          </a:graphicData>
        </a:graphic>
      </p:graphicFrame>
      <p:sp>
        <p:nvSpPr>
          <p:cNvPr id="4" name="text-2">
            <a:extLst xmlns:a="http://schemas.openxmlformats.org/drawingml/2006/main">
              <a:ext uri="{FF2B5EF4-FFF2-40B4-BE49-F238E27FC236}">
                <a16:creationId xmlns:a16="http://schemas.microsoft.com/office/drawing/2014/main" id="{62A2FF84-5604-4D10-82A5-47E8210C55C9}"/>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Giá trị giao dịch khác doanh thu phí của ví</a:t>
            </a:r>
          </a:p>
        </p:txBody>
      </p:sp>
    </p:spTree>
    <p:extLst>
      <p:ext uri="{BB962C8B-B14F-4D97-AF65-F5344CB8AC3E}">
        <p14:creationId xmlns:p14="http://schemas.microsoft.com/office/powerpoint/2010/main" val="20776903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E1D08D3-D5A3-4D12-B282-2502595009CB}"/>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Phí ngân hàng tháng 10 đạt 9.670 đồng</a:t>
            </a:r>
          </a:p>
        </p:txBody>
      </p:sp>
      <p:sp>
        <p:nvSpPr>
          <p:cNvPr id="2" name="text-1">
            <a:extLst xmlns:a="http://schemas.openxmlformats.org/drawingml/2006/main">
              <a:ext uri="{FF2B5EF4-FFF2-40B4-BE49-F238E27FC236}">
                <a16:creationId xmlns:a16="http://schemas.microsoft.com/office/drawing/2014/main" id="{ED0133D6-8E1D-450C-B05E-4F0E99998B83}"/>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4 trên 10</a:t>
            </a:r>
          </a:p>
        </p:txBody>
      </p:sp>
      <p:graphicFrame>
        <p:nvGraphicFramePr>
          <p:cNvPr id="3" name="Chart">
            <a:extLst xmlns:a="http://schemas.openxmlformats.org/drawingml/2006/main">
              <a:ext uri="{FF2B5EF4-FFF2-40B4-BE49-F238E27FC236}">
                <a16:creationId xmlns:a16="http://schemas.microsoft.com/office/drawing/2014/main" id="{3DBADFF4-D9E6-4241-90FB-170380B31C5F}"/>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e581cb409138429a"/>
          </a:graphicData>
        </a:graphic>
      </p:graphicFrame>
      <p:sp>
        <p:nvSpPr>
          <p:cNvPr id="4" name="text-2">
            <a:extLst xmlns:a="http://schemas.openxmlformats.org/drawingml/2006/main">
              <a:ext uri="{FF2B5EF4-FFF2-40B4-BE49-F238E27FC236}">
                <a16:creationId xmlns:a16="http://schemas.microsoft.com/office/drawing/2014/main" id="{D6067737-2BD6-42C4-9ECF-75846C58E465}"/>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Gồm 3.000 đồng cố định và 6.670 đồng biến đổi</a:t>
            </a:r>
          </a:p>
        </p:txBody>
      </p:sp>
    </p:spTree>
    <p:extLst>
      <p:ext uri="{BB962C8B-B14F-4D97-AF65-F5344CB8AC3E}">
        <p14:creationId xmlns:p14="http://schemas.microsoft.com/office/powerpoint/2010/main" val="192573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B805B9F-3C47-4175-A596-ECFE47D85F7A}"/>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Chi phí vận hành chiếm 69,7% tổng chi tháng 10</a:t>
            </a:r>
          </a:p>
        </p:txBody>
      </p:sp>
      <p:sp>
        <p:nvSpPr>
          <p:cNvPr id="2" name="text-1">
            <a:extLst xmlns:a="http://schemas.openxmlformats.org/drawingml/2006/main">
              <a:ext uri="{FF2B5EF4-FFF2-40B4-BE49-F238E27FC236}">
                <a16:creationId xmlns:a16="http://schemas.microsoft.com/office/drawing/2014/main" id="{2877FF3C-7635-4486-90F8-2E50FF99E312}"/>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5 trên 10</a:t>
            </a:r>
          </a:p>
        </p:txBody>
      </p:sp>
      <p:graphicFrame>
        <p:nvGraphicFramePr>
          <p:cNvPr id="3" name="Chart">
            <a:extLst xmlns:a="http://schemas.openxmlformats.org/drawingml/2006/main">
              <a:ext uri="{FF2B5EF4-FFF2-40B4-BE49-F238E27FC236}">
                <a16:creationId xmlns:a16="http://schemas.microsoft.com/office/drawing/2014/main" id="{7831FF82-9C28-4609-B4DD-5D1395F2D74C}"/>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8c85529b426b4c2d"/>
          </a:graphicData>
        </a:graphic>
      </p:graphicFrame>
      <p:sp>
        <p:nvSpPr>
          <p:cNvPr id="4" name="text-2">
            <a:extLst xmlns:a="http://schemas.openxmlformats.org/drawingml/2006/main">
              <a:ext uri="{FF2B5EF4-FFF2-40B4-BE49-F238E27FC236}">
                <a16:creationId xmlns:a16="http://schemas.microsoft.com/office/drawing/2014/main" id="{62698A5F-D3B3-4333-8D66-C1C9EA3D0987}"/>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Tổng chi phí hoạt động là 100.370 đồng</a:t>
            </a:r>
          </a:p>
        </p:txBody>
      </p:sp>
    </p:spTree>
    <p:extLst>
      <p:ext uri="{BB962C8B-B14F-4D97-AF65-F5344CB8AC3E}">
        <p14:creationId xmlns:p14="http://schemas.microsoft.com/office/powerpoint/2010/main" val="3517869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7A34BE1-772E-4DBB-AF84-D8F2DE897B24}"/>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Doanh thu trừ tổng chi còn lãi 37.630 đồng</a:t>
            </a:r>
          </a:p>
        </p:txBody>
      </p:sp>
      <p:sp>
        <p:nvSpPr>
          <p:cNvPr id="2" name="text-1">
            <a:extLst xmlns:a="http://schemas.openxmlformats.org/drawingml/2006/main">
              <a:ext uri="{FF2B5EF4-FFF2-40B4-BE49-F238E27FC236}">
                <a16:creationId xmlns:a16="http://schemas.microsoft.com/office/drawing/2014/main" id="{E5DBD75E-CD0A-4312-95CE-9926CD8EA9C8}"/>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6 trên 10</a:t>
            </a:r>
          </a:p>
        </p:txBody>
      </p:sp>
      <p:graphicFrame>
        <p:nvGraphicFramePr>
          <p:cNvPr id="3" name="Chart">
            <a:extLst xmlns:a="http://schemas.openxmlformats.org/drawingml/2006/main">
              <a:ext uri="{FF2B5EF4-FFF2-40B4-BE49-F238E27FC236}">
                <a16:creationId xmlns:a16="http://schemas.microsoft.com/office/drawing/2014/main" id="{35219AB6-7176-41D9-9338-EAF9EAF8A690}"/>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ffee24f76ed24693"/>
          </a:graphicData>
        </a:graphic>
      </p:graphicFrame>
      <p:sp>
        <p:nvSpPr>
          <p:cNvPr id="4" name="text-2">
            <a:extLst xmlns:a="http://schemas.openxmlformats.org/drawingml/2006/main">
              <a:ext uri="{FF2B5EF4-FFF2-40B4-BE49-F238E27FC236}">
                <a16:creationId xmlns:a16="http://schemas.microsoft.com/office/drawing/2014/main" id="{ED42FC46-CC15-4E37-8F4F-B0E0620FB02A}"/>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138.000 − 9.670 − 20.700 − 70.000 = 37.630</a:t>
            </a:r>
          </a:p>
        </p:txBody>
      </p:sp>
    </p:spTree>
    <p:extLst>
      <p:ext uri="{BB962C8B-B14F-4D97-AF65-F5344CB8AC3E}">
        <p14:creationId xmlns:p14="http://schemas.microsoft.com/office/powerpoint/2010/main" val="3663086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93EFA29-9085-4D5A-B397-DA5678FFDD41}"/>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Biên lợi nhuận tăng từ 19,3% lên 27,3%</a:t>
            </a:r>
          </a:p>
        </p:txBody>
      </p:sp>
      <p:sp>
        <p:nvSpPr>
          <p:cNvPr id="2" name="text-1">
            <a:extLst xmlns:a="http://schemas.openxmlformats.org/drawingml/2006/main">
              <a:ext uri="{FF2B5EF4-FFF2-40B4-BE49-F238E27FC236}">
                <a16:creationId xmlns:a16="http://schemas.microsoft.com/office/drawing/2014/main" id="{46942929-F1F4-4C36-9F6F-0DE785ED4100}"/>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7 trên 10</a:t>
            </a:r>
          </a:p>
        </p:txBody>
      </p:sp>
      <p:graphicFrame>
        <p:nvGraphicFramePr>
          <p:cNvPr id="3" name="Chart">
            <a:extLst xmlns:a="http://schemas.openxmlformats.org/drawingml/2006/main">
              <a:ext uri="{FF2B5EF4-FFF2-40B4-BE49-F238E27FC236}">
                <a16:creationId xmlns:a16="http://schemas.microsoft.com/office/drawing/2014/main" id="{C37C040C-F5A6-4C13-B1A6-1870D35008FA}"/>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6bd4f64b3db14ab6"/>
          </a:graphicData>
        </a:graphic>
      </p:graphicFrame>
      <p:sp>
        <p:nvSpPr>
          <p:cNvPr id="4" name="text-2">
            <a:extLst xmlns:a="http://schemas.openxmlformats.org/drawingml/2006/main">
              <a:ext uri="{FF2B5EF4-FFF2-40B4-BE49-F238E27FC236}">
                <a16:creationId xmlns:a16="http://schemas.microsoft.com/office/drawing/2014/main" id="{AD77AFFC-972F-47F4-BB31-A313339C36F2}"/>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Mức cải thiện là 7,9 điểm phần trăm</a:t>
            </a:r>
          </a:p>
        </p:txBody>
      </p:sp>
    </p:spTree>
    <p:extLst>
      <p:ext uri="{BB962C8B-B14F-4D97-AF65-F5344CB8AC3E}">
        <p14:creationId xmlns:p14="http://schemas.microsoft.com/office/powerpoint/2010/main" val="9048364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C36E428-F173-43E6-80D9-AAFF361F6F85}"/>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Quỹ hoạt động cuối kỳ đạt 137.630 đồng</a:t>
            </a:r>
          </a:p>
        </p:txBody>
      </p:sp>
      <p:sp>
        <p:nvSpPr>
          <p:cNvPr id="2" name="text-1">
            <a:extLst xmlns:a="http://schemas.openxmlformats.org/drawingml/2006/main">
              <a:ext uri="{FF2B5EF4-FFF2-40B4-BE49-F238E27FC236}">
                <a16:creationId xmlns:a16="http://schemas.microsoft.com/office/drawing/2014/main" id="{66DC2B20-E8E1-4441-BC9B-C54C60EE0EEF}"/>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8 trên 10</a:t>
            </a:r>
          </a:p>
        </p:txBody>
      </p:sp>
      <p:graphicFrame>
        <p:nvGraphicFramePr>
          <p:cNvPr id="3" name="Chart">
            <a:extLst xmlns:a="http://schemas.openxmlformats.org/drawingml/2006/main">
              <a:ext uri="{FF2B5EF4-FFF2-40B4-BE49-F238E27FC236}">
                <a16:creationId xmlns:a16="http://schemas.microsoft.com/office/drawing/2014/main" id="{18507FFD-1416-44D7-9704-E074C33245A5}"/>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ac15802087d545f6"/>
          </a:graphicData>
        </a:graphic>
      </p:graphicFrame>
      <p:sp>
        <p:nvSpPr>
          <p:cNvPr id="4" name="text-2">
            <a:extLst xmlns:a="http://schemas.openxmlformats.org/drawingml/2006/main">
              <a:ext uri="{FF2B5EF4-FFF2-40B4-BE49-F238E27FC236}">
                <a16:creationId xmlns:a16="http://schemas.microsoft.com/office/drawing/2014/main" id="{01C5E3BA-FCB6-4030-ADFE-ABF0662693A6}"/>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Giả định toàn bộ khoản thu và chi đã thanh toán</a:t>
            </a:r>
          </a:p>
        </p:txBody>
      </p:sp>
    </p:spTree>
    <p:extLst>
      <p:ext uri="{BB962C8B-B14F-4D97-AF65-F5344CB8AC3E}">
        <p14:creationId xmlns:p14="http://schemas.microsoft.com/office/powerpoint/2010/main" val="679647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BED47C9-661D-49D5-B4B3-19EDBD7ECE99}"/>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12 giao dịch tháng 10 đều khớp phí ngân hàng</a:t>
            </a:r>
          </a:p>
        </p:txBody>
      </p:sp>
      <p:sp>
        <p:nvSpPr>
          <p:cNvPr id="2" name="text-1">
            <a:extLst xmlns:a="http://schemas.openxmlformats.org/drawingml/2006/main">
              <a:ext uri="{FF2B5EF4-FFF2-40B4-BE49-F238E27FC236}">
                <a16:creationId xmlns:a16="http://schemas.microsoft.com/office/drawing/2014/main" id="{4421834F-94B6-460A-A2E3-ECB9D792EFEB}"/>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9 trên 10</a:t>
            </a:r>
          </a:p>
        </p:txBody>
      </p:sp>
      <p:graphicFrame>
        <p:nvGraphicFramePr>
          <p:cNvPr id="3" name="Chart">
            <a:extLst xmlns:a="http://schemas.openxmlformats.org/drawingml/2006/main">
              <a:ext uri="{FF2B5EF4-FFF2-40B4-BE49-F238E27FC236}">
                <a16:creationId xmlns:a16="http://schemas.microsoft.com/office/drawing/2014/main" id="{5D6202D4-5520-4DEE-B9AC-65574B82A112}"/>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0702de3ce0814133"/>
          </a:graphicData>
        </a:graphic>
      </p:graphicFrame>
      <p:sp>
        <p:nvSpPr>
          <p:cNvPr id="4" name="text-2">
            <a:extLst xmlns:a="http://schemas.openxmlformats.org/drawingml/2006/main">
              <a:ext uri="{FF2B5EF4-FFF2-40B4-BE49-F238E27FC236}">
                <a16:creationId xmlns:a16="http://schemas.microsoft.com/office/drawing/2014/main" id="{25B72BA2-E156-427B-9E19-9556419B3427}"/>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Mã giao dịch đã TRIM và tra cứu với FALSE</a:t>
            </a:r>
          </a:p>
        </p:txBody>
      </p:sp>
    </p:spTree>
    <p:extLst>
      <p:ext uri="{BB962C8B-B14F-4D97-AF65-F5344CB8AC3E}">
        <p14:creationId xmlns:p14="http://schemas.microsoft.com/office/powerpoint/2010/main" val="1881209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F66E9C5-FDD0-489A-B182-43DA116FD6AC}"/>
              </a:ext>
            </a:extLst>
          </p:cNvPr>
          <p:cNvSpPr>
            <a:spLocks xmlns:a="http://schemas.openxmlformats.org/drawingml/2006/main" noGrp="1"/>
          </p:cNvSpPr>
          <p:nvPr/>
        </p:nvSpPr>
        <p:spPr>
          <a:xfrm xmlns:a="http://schemas.openxmlformats.org/drawingml/2006/main">
            <a:off x="609600" y="361950"/>
            <a:ext cx="109728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2356A"/>
                </a:solidFill>
                <a:latin typeface="Arial"/>
                <a:ea typeface="Arial"/>
                <a:cs typeface="Arial"/>
              </a:defRPr>
            </a:defPPr>
            <a:lvl1pPr>
              <a:defRPr sz="3600" b="1">
                <a:solidFill>
                  <a:srgbClr val="12356A"/>
                </a:solidFill>
                <a:latin typeface="Arial"/>
                <a:ea typeface="Arial"/>
                <a:cs typeface="Arial"/>
              </a:defRPr>
            </a:lvl1pPr>
            <a:lvl2pPr>
              <a:defRPr sz="3600" b="1">
                <a:solidFill>
                  <a:srgbClr val="12356A"/>
                </a:solidFill>
                <a:latin typeface="Arial"/>
                <a:ea typeface="Arial"/>
                <a:cs typeface="Arial"/>
              </a:defRPr>
            </a:lvl2pPr>
            <a:lvl3pPr>
              <a:defRPr sz="3600" b="1">
                <a:solidFill>
                  <a:srgbClr val="12356A"/>
                </a:solidFill>
                <a:latin typeface="Arial"/>
                <a:ea typeface="Arial"/>
                <a:cs typeface="Arial"/>
              </a:defRPr>
            </a:lvl3pPr>
            <a:lvl4pPr>
              <a:defRPr sz="3600" b="1">
                <a:solidFill>
                  <a:srgbClr val="12356A"/>
                </a:solidFill>
                <a:latin typeface="Arial"/>
                <a:ea typeface="Arial"/>
                <a:cs typeface="Arial"/>
              </a:defRPr>
            </a:lvl4pPr>
            <a:lvl5pPr>
              <a:defRPr sz="3600" b="1">
                <a:solidFill>
                  <a:srgbClr val="12356A"/>
                </a:solidFill>
                <a:latin typeface="Arial"/>
                <a:ea typeface="Arial"/>
                <a:cs typeface="Arial"/>
              </a:defRPr>
            </a:lvl5pPr>
            <a:lvl6pPr>
              <a:defRPr sz="3600" b="1">
                <a:solidFill>
                  <a:srgbClr val="12356A"/>
                </a:solidFill>
                <a:latin typeface="Arial"/>
                <a:ea typeface="Arial"/>
                <a:cs typeface="Arial"/>
              </a:defRPr>
            </a:lvl6pPr>
            <a:lvl7pPr>
              <a:defRPr sz="3600" b="1">
                <a:solidFill>
                  <a:srgbClr val="12356A"/>
                </a:solidFill>
                <a:latin typeface="Arial"/>
                <a:ea typeface="Arial"/>
                <a:cs typeface="Arial"/>
              </a:defRPr>
            </a:lvl7pPr>
            <a:lvl8pPr>
              <a:defRPr sz="3600" b="1">
                <a:solidFill>
                  <a:srgbClr val="12356A"/>
                </a:solidFill>
                <a:latin typeface="Arial"/>
                <a:ea typeface="Arial"/>
                <a:cs typeface="Arial"/>
              </a:defRPr>
            </a:lvl8pPr>
            <a:lvl9pPr>
              <a:defRPr sz="3600" b="1">
                <a:solidFill>
                  <a:srgbClr val="12356A"/>
                </a:solidFill>
                <a:latin typeface="Arial"/>
                <a:ea typeface="Arial"/>
                <a:cs typeface="Arial"/>
              </a:defRPr>
            </a:lvl9pPr>
          </a:lstStyle>
          <a:p xmlns:a="http://schemas.openxmlformats.org/drawingml/2006/main">
            <a:pPr>
              <a:defRPr sz="3600" b="1">
                <a:solidFill>
                  <a:srgbClr val="12356A"/>
                </a:solidFill>
                <a:latin typeface="Arial"/>
                <a:ea typeface="Arial"/>
                <a:cs typeface="Arial"/>
              </a:defRPr>
            </a:pPr>
            <a:r>
              <a:rPr sz="3600" b="1">
                <a:solidFill>
                  <a:srgbClr val="12356A"/>
                </a:solidFill>
                <a:latin typeface="Arial"/>
                <a:ea typeface="Arial"/>
                <a:cs typeface="Arial"/>
              </a:rPr>
              <a:t>Chi phí vận hành giữ nguyên, lãi tăng 62,2%</a:t>
            </a:r>
          </a:p>
        </p:txBody>
      </p:sp>
      <p:sp>
        <p:nvSpPr>
          <p:cNvPr id="2" name="text-1">
            <a:extLst xmlns:a="http://schemas.openxmlformats.org/drawingml/2006/main">
              <a:ext uri="{FF2B5EF4-FFF2-40B4-BE49-F238E27FC236}">
                <a16:creationId xmlns:a16="http://schemas.microsoft.com/office/drawing/2014/main" id="{B0D76608-B0D5-4E97-8B6A-A01073067246}"/>
              </a:ext>
            </a:extLst>
          </p:cNvPr>
          <p:cNvSpPr>
            <a:spLocks xmlns:a="http://schemas.openxmlformats.org/drawingml/2006/main" noGrp="1"/>
          </p:cNvSpPr>
          <p:nvPr/>
        </p:nvSpPr>
        <p:spPr>
          <a:xfrm xmlns:a="http://schemas.openxmlformats.org/drawingml/2006/main">
            <a:off x="609600" y="62674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475569"/>
                </a:solidFill>
                <a:latin typeface="Arial"/>
                <a:ea typeface="Arial"/>
                <a:cs typeface="Arial"/>
              </a:defRPr>
            </a:defPPr>
            <a:lvl1pPr>
              <a:defRPr sz="3000" b="0">
                <a:solidFill>
                  <a:srgbClr val="475569"/>
                </a:solidFill>
                <a:latin typeface="Arial"/>
                <a:ea typeface="Arial"/>
                <a:cs typeface="Arial"/>
              </a:defRPr>
            </a:lvl1pPr>
            <a:lvl2pPr>
              <a:defRPr sz="3000" b="0">
                <a:solidFill>
                  <a:srgbClr val="475569"/>
                </a:solidFill>
                <a:latin typeface="Arial"/>
                <a:ea typeface="Arial"/>
                <a:cs typeface="Arial"/>
              </a:defRPr>
            </a:lvl2pPr>
            <a:lvl3pPr>
              <a:defRPr sz="3000" b="0">
                <a:solidFill>
                  <a:srgbClr val="475569"/>
                </a:solidFill>
                <a:latin typeface="Arial"/>
                <a:ea typeface="Arial"/>
                <a:cs typeface="Arial"/>
              </a:defRPr>
            </a:lvl3pPr>
            <a:lvl4pPr>
              <a:defRPr sz="3000" b="0">
                <a:solidFill>
                  <a:srgbClr val="475569"/>
                </a:solidFill>
                <a:latin typeface="Arial"/>
                <a:ea typeface="Arial"/>
                <a:cs typeface="Arial"/>
              </a:defRPr>
            </a:lvl4pPr>
            <a:lvl5pPr>
              <a:defRPr sz="3000" b="0">
                <a:solidFill>
                  <a:srgbClr val="475569"/>
                </a:solidFill>
                <a:latin typeface="Arial"/>
                <a:ea typeface="Arial"/>
                <a:cs typeface="Arial"/>
              </a:defRPr>
            </a:lvl5pPr>
            <a:lvl6pPr>
              <a:defRPr sz="3000" b="0">
                <a:solidFill>
                  <a:srgbClr val="475569"/>
                </a:solidFill>
                <a:latin typeface="Arial"/>
                <a:ea typeface="Arial"/>
                <a:cs typeface="Arial"/>
              </a:defRPr>
            </a:lvl6pPr>
            <a:lvl7pPr>
              <a:defRPr sz="3000" b="0">
                <a:solidFill>
                  <a:srgbClr val="475569"/>
                </a:solidFill>
                <a:latin typeface="Arial"/>
                <a:ea typeface="Arial"/>
                <a:cs typeface="Arial"/>
              </a:defRPr>
            </a:lvl7pPr>
            <a:lvl8pPr>
              <a:defRPr sz="3000" b="0">
                <a:solidFill>
                  <a:srgbClr val="475569"/>
                </a:solidFill>
                <a:latin typeface="Arial"/>
                <a:ea typeface="Arial"/>
                <a:cs typeface="Arial"/>
              </a:defRPr>
            </a:lvl8pPr>
            <a:lvl9pPr>
              <a:defRPr sz="3000" b="0">
                <a:solidFill>
                  <a:srgbClr val="475569"/>
                </a:solidFill>
                <a:latin typeface="Arial"/>
                <a:ea typeface="Arial"/>
                <a:cs typeface="Arial"/>
              </a:defRPr>
            </a:lvl9pPr>
          </a:lstStyle>
          <a:p xmlns:a="http://schemas.openxmlformats.org/drawingml/2006/main">
            <a:pPr>
              <a:defRPr sz="3000" b="0">
                <a:solidFill>
                  <a:srgbClr val="475569"/>
                </a:solidFill>
                <a:latin typeface="Arial"/>
                <a:ea typeface="Arial"/>
                <a:cs typeface="Arial"/>
              </a:defRPr>
            </a:pPr>
            <a:r>
              <a:rPr sz="3000" b="0">
                <a:solidFill>
                  <a:srgbClr val="475569"/>
                </a:solidFill>
                <a:latin typeface="Arial"/>
                <a:ea typeface="Arial"/>
                <a:cs typeface="Arial"/>
              </a:rPr>
              <a:t>PayKX   /   Dữ liệu giả định   /   10 trên 10</a:t>
            </a:r>
          </a:p>
        </p:txBody>
      </p:sp>
      <p:graphicFrame>
        <p:nvGraphicFramePr>
          <p:cNvPr id="3" name="Chart">
            <a:extLst xmlns:a="http://schemas.openxmlformats.org/drawingml/2006/main">
              <a:ext uri="{FF2B5EF4-FFF2-40B4-BE49-F238E27FC236}">
                <a16:creationId xmlns:a16="http://schemas.microsoft.com/office/drawing/2014/main" id="{2780B84A-85A1-4897-9C27-21C963F6878E}"/>
              </a:ext>
            </a:extLst>
          </p:cNvPr>
          <p:cNvGraphicFramePr/>
          <p:nvPr/>
        </p:nvGraphicFramePr>
        <p:xfrm>
          <a:off xmlns:a="http://schemas.openxmlformats.org/drawingml/2006/main" x="609600" y="1438275"/>
          <a:ext xmlns:a="http://schemas.openxmlformats.org/drawingml/2006/main" cx="10972800" cy="4143375"/>
        </p:xfrm>
        <a:graphic xmlns:a="http://schemas.openxmlformats.org/drawingml/2006/main">
          <a:graphicData uri="http://schemas.openxmlformats.org/drawingml/2006/chart">
            <c:chart xmlns:r="http://schemas.openxmlformats.org/officeDocument/2006/relationships" xmlns:c="http://schemas.openxmlformats.org/drawingml/2006/chart" r:id="Rf499a30f1ba14494"/>
          </a:graphicData>
        </a:graphic>
      </p:graphicFrame>
      <p:sp>
        <p:nvSpPr>
          <p:cNvPr id="4" name="text-2">
            <a:extLst xmlns:a="http://schemas.openxmlformats.org/drawingml/2006/main">
              <a:ext uri="{FF2B5EF4-FFF2-40B4-BE49-F238E27FC236}">
                <a16:creationId xmlns:a16="http://schemas.microsoft.com/office/drawing/2014/main" id="{15934A81-BB80-4932-97E8-F7D596E9B551}"/>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12356A"/>
                </a:solidFill>
                <a:latin typeface="Arial"/>
                <a:ea typeface="Arial"/>
                <a:cs typeface="Arial"/>
              </a:defRPr>
            </a:defPPr>
            <a:lvl1pPr>
              <a:defRPr sz="3000" b="0">
                <a:solidFill>
                  <a:srgbClr val="12356A"/>
                </a:solidFill>
                <a:latin typeface="Arial"/>
                <a:ea typeface="Arial"/>
                <a:cs typeface="Arial"/>
              </a:defRPr>
            </a:lvl1pPr>
            <a:lvl2pPr>
              <a:defRPr sz="3000" b="0">
                <a:solidFill>
                  <a:srgbClr val="12356A"/>
                </a:solidFill>
                <a:latin typeface="Arial"/>
                <a:ea typeface="Arial"/>
                <a:cs typeface="Arial"/>
              </a:defRPr>
            </a:lvl2pPr>
            <a:lvl3pPr>
              <a:defRPr sz="3000" b="0">
                <a:solidFill>
                  <a:srgbClr val="12356A"/>
                </a:solidFill>
                <a:latin typeface="Arial"/>
                <a:ea typeface="Arial"/>
                <a:cs typeface="Arial"/>
              </a:defRPr>
            </a:lvl3pPr>
            <a:lvl4pPr>
              <a:defRPr sz="3000" b="0">
                <a:solidFill>
                  <a:srgbClr val="12356A"/>
                </a:solidFill>
                <a:latin typeface="Arial"/>
                <a:ea typeface="Arial"/>
                <a:cs typeface="Arial"/>
              </a:defRPr>
            </a:lvl4pPr>
            <a:lvl5pPr>
              <a:defRPr sz="3000" b="0">
                <a:solidFill>
                  <a:srgbClr val="12356A"/>
                </a:solidFill>
                <a:latin typeface="Arial"/>
                <a:ea typeface="Arial"/>
                <a:cs typeface="Arial"/>
              </a:defRPr>
            </a:lvl5pPr>
            <a:lvl6pPr>
              <a:defRPr sz="3000" b="0">
                <a:solidFill>
                  <a:srgbClr val="12356A"/>
                </a:solidFill>
                <a:latin typeface="Arial"/>
                <a:ea typeface="Arial"/>
                <a:cs typeface="Arial"/>
              </a:defRPr>
            </a:lvl6pPr>
            <a:lvl7pPr>
              <a:defRPr sz="3000" b="0">
                <a:solidFill>
                  <a:srgbClr val="12356A"/>
                </a:solidFill>
                <a:latin typeface="Arial"/>
                <a:ea typeface="Arial"/>
                <a:cs typeface="Arial"/>
              </a:defRPr>
            </a:lvl7pPr>
            <a:lvl8pPr>
              <a:defRPr sz="3000" b="0">
                <a:solidFill>
                  <a:srgbClr val="12356A"/>
                </a:solidFill>
                <a:latin typeface="Arial"/>
                <a:ea typeface="Arial"/>
                <a:cs typeface="Arial"/>
              </a:defRPr>
            </a:lvl8pPr>
            <a:lvl9pPr>
              <a:defRPr sz="3000" b="0">
                <a:solidFill>
                  <a:srgbClr val="12356A"/>
                </a:solidFill>
                <a:latin typeface="Arial"/>
                <a:ea typeface="Arial"/>
                <a:cs typeface="Arial"/>
              </a:defRPr>
            </a:lvl9pPr>
          </a:lstStyle>
          <a:p xmlns:a="http://schemas.openxmlformats.org/drawingml/2006/main">
            <a:pPr>
              <a:defRPr sz="3000" b="0">
                <a:solidFill>
                  <a:srgbClr val="12356A"/>
                </a:solidFill>
                <a:latin typeface="Arial"/>
                <a:ea typeface="Arial"/>
                <a:cs typeface="Arial"/>
              </a:defRPr>
            </a:pPr>
            <a:r>
              <a:rPr sz="3000" b="0">
                <a:solidFill>
                  <a:srgbClr val="12356A"/>
                </a:solidFill>
                <a:latin typeface="Arial"/>
                <a:ea typeface="Arial"/>
                <a:cs typeface="Arial"/>
              </a:rPr>
              <a:t>Đề xuất: kiểm tra hiệu quả ưu đãi trước khi mở rộng</a:t>
            </a:r>
          </a:p>
        </p:txBody>
      </p:sp>
    </p:spTree>
    <p:extLst>
      <p:ext uri="{BB962C8B-B14F-4D97-AF65-F5344CB8AC3E}">
        <p14:creationId xmlns:p14="http://schemas.microsoft.com/office/powerpoint/2010/main" val="1067272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2026-10-27T03:00:32.7270000Z</dcterms:created>
  <dcterms:modified xsi:type="dcterms:W3CDTF">2026-10-27T03:00:32.7270000Z</dcterms:modified>
</coreProperties>
</file>